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994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Abertura, 0 a 3 min. Dizer que a teoria dos modelos já foi vista em aula e que o seminário mostra como colocá-la em prática. Avisar que haverá um único problema de classificação do início ao fim e que cada ferramenta entra para superar uma limitação da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o papel de cada ferramenta em uma frase: elas não competem, se complementam. Em seguida, ir ao notebook: mostrar as primeiras linhas da tabela, o describe() dos atributos numéricos e a contagem por classe. Apontar duas coisas: os atributos têm escalas muito diferentes, e as duas classes mais comuns somam cerca de 85% das linhas. Transição: antes de pensar em rede neural, preciso de dados preparados e de um modelo simples para comparar. É aí que entra o Scikit-learn.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0FA3A-4879-8999-737E-6210A1F6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2373F-E983-8962-FAD2-BF6143F18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A25AF-95D4-E0A1-858F-19816CC4B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1, 3 a 13 min. Conceitos em 5 minutos, quatro slides. O Scikit-learn é a base de qualquer projeto: ajuda a escolher um modelo, prepara os dados, valida corretamente e entrega uma referência em poucas linhas.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36F6D-26DC-951E-7262-76BE7D475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7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caminho do nosso problema no fluxograma: mais de 50 amostras, prever uma categoria, dados rotulados, menos de 100 mil amostras, e então LinearSVC. Comentar que, com a base inteira (581 mil linhas), o guia indicaria o SGDClassifier: a recomendação depende do tamanho dos dados. Se quiser mostrar o fluxograma original, a página oferece o arquivo ml_map.svg para download. Os dois avisos preparam a transição para o PyTorch: o guia não cobre redes neurais.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objetos do Scikit-learn seguem a mesma interface: fit aprende, predict prevê, transform pré-processa. Por isso o Pipeline consegue tratar pré-processamento e modelo como um objeto único. O modelo do exemplo é o LinearSVC, indicado pelo guia.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divisão em treino, validação e teste (estratificada, para manter a proporção das classes), a validação cruzada dentro do treino e a busca em grade. Depois, ir ao notebook (5 min): dividir os dados, mostrar o piso de 48,8% de quem prevê sempre a classe mais comum, montar o Pipeline, avaliar com cross_val_score e buscar o C do LinearSVC com GridSearchCV. Ponto a enfatizar: o StandardScaler fica dentro do Pipeline para ser ajustado só com o treino de cada partição; ajustá-lo com a base inteira vaza informação. Transição: segui o guia e cheguei a um modelo linear razoável. O guia ainda sugere outros modelos, mas nenhum deles é uma rede neural. Para montar uma rede com a arquitetura que eu quiser, preciso de outra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2, 13 a 22 min. Conceitos em 4 minutos, três slides. O PyTorch entra quando se quer controle sobre a arquitetura e o treino. Tensores são arrays com suporte a GPU; o autograd calcula os gradientes que a retropropagação precisa.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peças aparecem em todo treino: o módulo que define a rede, a função de perda, o otimizador e o carregador de dados. Otimizador e tamanho do lote voltam mais tarde como hiperparâmetros a otimizar. Um detalhe em uma frase: a CrossEntropyLoss recebe as saídas brutas da rede, sem softmax, e a classe prevista é a saída de maior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os cinco passos apontando a linha correspondente no código. Depois, ir ao notebook (5 min): converter os dados para tensores, definir um MLP com 54 entradas, 2 camadas de 64 neurônios e 7 saídas, treinar 30 épocas com Adam e taxa 0,001, plotar as curvas de acurácia e comparar com o LinearSVC. Gancho (2 min): treinar a mesma rede, com o mesmo otimizador, com taxa alta demais (0,1) e baixa demais (0,00001) e sobrepor as curvas. Com a taxa alta, a rede fica presa no piso da classe mais comum. Transição: a rede tem taxa de aprendizado, número de camadas, neurônios, otimizador e tamanho do lote. Escolhi tudo no chute, e uma escolha ruim estraga o modelo. Testar todas as combinações em grade seria inviável.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3, 22 a 34 min. Conceitos em 4 minutos, três slides. Apresentar o vocabulário: função objetivo, trial e study. O Optuna não sabe nada sobre PyTorch: a mesma função objetivo poderia treinar um modelo do Scikit-learn.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grade testa tudo e explode com 5 hiperparâmetros. A aleatória é mais barata, mas não aprende com o que já viu. O TPE modela quais regiões deram bons e maus resultados e sorteia mais nas regiões boas. Os pontos do slide são uma ilustração, não um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os cinco hiperparâmetros são os vistos em aula: taxa de aprendizado, camadas, neurônios, otimizador e tamanho do lote. Depois, ir ao notebook (8 min): mostrar o estudo com direction maximize, TPESampler com semente e MedianPruner; rodar ao vivo a célula da seção 3.4, com 4 trials sobre uma cópia do estudo (leva cerca de 1 minuto); mostrar best_params, o histórico da otimização e a importância dos hiperparâmetros. Na execução de referência, 25 dos 50 trials foram interrompidos pelo pruning, e a taxa de aprendizado foi o hiperparâmetro mais importante, seguida do número de neurônios. Pontos a enfatizar: a otimização usa só a validação, e o teste continua intocado. Transição: agora tenho três modelos. Falta a comparação justa, em dados que nenhum deles viu.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Síntese, 34 a 38 min. No notebook, mostrar a tabela e a matriz de confusão da rede otimizada. Os valores deste slide vêm da execução de referência do notebook; confira-os depois de executar na sua máquina, pois podem variar ligeiramente. Ler o ganho de cada etapa: do piso ao LinearSVC é o ganho de usar um modelo; do LinearSVC à rede, o ganho da arquitetura; da rede à rede otimizada, o ganho da otimização. Na matriz de confusão, apontar que a maior parte dos erros está entre Spruce/Fir e Lodgepole Pine, as duas classes mais comuns, e que as classes raras são as mais difíceis.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Fechamento, 38 a 40 min. Uma frase por ferramenta. Fazer a ressalva: o objetivo da demonstração foi mostrar as ferramentas, não eleger o melhor modelo para essa base. Os ensembles de árvores são, aliás, um dos próximos passos do guia do Scikit-learn.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566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73250"/>
            <a:ext cx="10566400" cy="417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566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73250"/>
            <a:ext cx="10566400" cy="417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achine_learning_map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SEMINÁRIO · FRAMEWORKS DE INTELIGÊNCIA ARTIFICIAL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87625"/>
            <a:ext cx="11379200" cy="8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pt-BR" sz="5600" b="1" i="0" dirty="0" err="1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5600" b="1" i="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5600" b="1" i="0" dirty="0" err="1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5600" b="1" i="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5600" b="1" i="0" dirty="0" err="1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571875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pt-BR" sz="2000" dirty="0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modelo de referência à rede neural otimizada, em um único problema</a:t>
            </a:r>
            <a:endParaRPr lang="pt-BR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46735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Flávio Belizário da Silva Mota</a:t>
            </a:r>
            <a:endParaRPr lang="pt-BR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7975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Tópicos em Inteligência Artificial e Otimização </a:t>
            </a:r>
            <a:r>
              <a:rPr lang="pt-BR" sz="1400" dirty="0" err="1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pt-BR" sz="1400" dirty="0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PPGCC/UFLA · Out/2026</a:t>
            </a:r>
            <a:endParaRPr lang="pt-BR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e as três ferramentas</a:t>
            </a:r>
            <a:endParaRPr lang="pt-BR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22450"/>
            <a:ext cx="1137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Prever o tipo de floresta que cobre uma área a partir de dados cartográficos, como altitude, inclinação e tipo de solo.</a:t>
            </a:r>
            <a:endParaRPr lang="pt-BR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526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</a:t>
            </a:r>
            <a:r>
              <a:rPr lang="pt-BR" sz="1400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Covertype</a:t>
            </a: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amostra de 20.000 linhas, 54 atributos, 7 classes. Um problema de classificação.</a:t>
            </a:r>
            <a:endParaRPr lang="pt-BR" sz="1400" dirty="0"/>
          </a:p>
        </p:txBody>
      </p:sp>
      <p:sp>
        <p:nvSpPr>
          <p:cNvPr id="6" name="Shape 4"/>
          <p:cNvSpPr/>
          <p:nvPr/>
        </p:nvSpPr>
        <p:spPr>
          <a:xfrm>
            <a:off x="815975" y="2657475"/>
            <a:ext cx="3380284" cy="1727200"/>
          </a:xfrm>
          <a:prstGeom prst="roundRect">
            <a:avLst>
              <a:gd name="adj" fmla="val 569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/>
          <p:nvPr/>
        </p:nvSpPr>
        <p:spPr>
          <a:xfrm>
            <a:off x="1073150" y="2914650"/>
            <a:ext cx="295191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de ML clássico</a:t>
            </a:r>
            <a:endParaRPr lang="pt-BR" sz="1200" dirty="0"/>
          </a:p>
        </p:txBody>
      </p:sp>
      <p:sp>
        <p:nvSpPr>
          <p:cNvPr id="8" name="Text 6"/>
          <p:cNvSpPr/>
          <p:nvPr/>
        </p:nvSpPr>
        <p:spPr>
          <a:xfrm>
            <a:off x="1073150" y="32258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pt-BR" sz="2000" dirty="0"/>
          </a:p>
        </p:txBody>
      </p:sp>
      <p:sp>
        <p:nvSpPr>
          <p:cNvPr id="9" name="Text 7"/>
          <p:cNvSpPr/>
          <p:nvPr/>
        </p:nvSpPr>
        <p:spPr>
          <a:xfrm>
            <a:off x="1073150" y="3632200"/>
            <a:ext cx="295191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os dados e cria o modelo de referência.</a:t>
            </a:r>
            <a:endParaRPr lang="pt-BR" sz="1400" dirty="0"/>
          </a:p>
        </p:txBody>
      </p:sp>
      <p:sp>
        <p:nvSpPr>
          <p:cNvPr id="10" name="Shape 8"/>
          <p:cNvSpPr/>
          <p:nvPr/>
        </p:nvSpPr>
        <p:spPr>
          <a:xfrm>
            <a:off x="4405809" y="2657475"/>
            <a:ext cx="3380284" cy="1727200"/>
          </a:xfrm>
          <a:prstGeom prst="roundRect">
            <a:avLst>
              <a:gd name="adj" fmla="val 569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/>
          <p:nvPr/>
        </p:nvSpPr>
        <p:spPr>
          <a:xfrm>
            <a:off x="4662984" y="2914650"/>
            <a:ext cx="295191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redes neurais</a:t>
            </a:r>
            <a:endParaRPr lang="pt-BR" sz="1200" dirty="0"/>
          </a:p>
        </p:txBody>
      </p:sp>
      <p:sp>
        <p:nvSpPr>
          <p:cNvPr id="12" name="Text 10"/>
          <p:cNvSpPr/>
          <p:nvPr/>
        </p:nvSpPr>
        <p:spPr>
          <a:xfrm>
            <a:off x="4662984" y="32258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pt-BR" sz="2000" dirty="0"/>
          </a:p>
        </p:txBody>
      </p:sp>
      <p:sp>
        <p:nvSpPr>
          <p:cNvPr id="13" name="Text 11"/>
          <p:cNvSpPr/>
          <p:nvPr/>
        </p:nvSpPr>
        <p:spPr>
          <a:xfrm>
            <a:off x="4662984" y="3632200"/>
            <a:ext cx="295191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Constrói e treina a rede neural.</a:t>
            </a:r>
            <a:endParaRPr lang="pt-BR" sz="1400" dirty="0"/>
          </a:p>
        </p:txBody>
      </p:sp>
      <p:sp>
        <p:nvSpPr>
          <p:cNvPr id="14" name="Shape 12"/>
          <p:cNvSpPr/>
          <p:nvPr/>
        </p:nvSpPr>
        <p:spPr>
          <a:xfrm>
            <a:off x="7995642" y="2657475"/>
            <a:ext cx="3380284" cy="1727200"/>
          </a:xfrm>
          <a:prstGeom prst="roundRect">
            <a:avLst>
              <a:gd name="adj" fmla="val 569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/>
          <p:nvPr/>
        </p:nvSpPr>
        <p:spPr>
          <a:xfrm>
            <a:off x="8252817" y="2914650"/>
            <a:ext cx="295191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otimização</a:t>
            </a:r>
            <a:endParaRPr lang="pt-BR" sz="1200" dirty="0"/>
          </a:p>
        </p:txBody>
      </p:sp>
      <p:sp>
        <p:nvSpPr>
          <p:cNvPr id="16" name="Text 14"/>
          <p:cNvSpPr/>
          <p:nvPr/>
        </p:nvSpPr>
        <p:spPr>
          <a:xfrm>
            <a:off x="8252817" y="32258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2000" dirty="0"/>
          </a:p>
        </p:txBody>
      </p:sp>
      <p:sp>
        <p:nvSpPr>
          <p:cNvPr id="17" name="Text 15"/>
          <p:cNvSpPr/>
          <p:nvPr/>
        </p:nvSpPr>
        <p:spPr>
          <a:xfrm>
            <a:off x="8252817" y="3632200"/>
            <a:ext cx="295191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 a melhor configuração da rede.</a:t>
            </a:r>
            <a:endParaRPr lang="pt-BR" sz="1400" dirty="0"/>
          </a:p>
        </p:txBody>
      </p:sp>
      <p:sp>
        <p:nvSpPr>
          <p:cNvPr id="18" name="Text 16"/>
          <p:cNvSpPr/>
          <p:nvPr/>
        </p:nvSpPr>
        <p:spPr>
          <a:xfrm>
            <a:off x="817336" y="5010150"/>
            <a:ext cx="2025948" cy="400050"/>
          </a:xfrm>
          <a:prstGeom prst="roundRect">
            <a:avLst>
              <a:gd name="adj" fmla="val 44444"/>
            </a:avLst>
          </a:prstGeom>
          <a:solidFill>
            <a:srgbClr val="ECE7D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pt-BR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referência</a:t>
            </a:r>
            <a:endParaRPr lang="pt-BR" sz="1400" dirty="0"/>
          </a:p>
        </p:txBody>
      </p:sp>
      <p:pic>
        <p:nvPicPr>
          <p:cNvPr id="19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0284" y="5133975"/>
            <a:ext cx="304800" cy="152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402084" y="5010150"/>
            <a:ext cx="1324372" cy="400050"/>
          </a:xfrm>
          <a:prstGeom prst="roundRect">
            <a:avLst>
              <a:gd name="adj" fmla="val 44444"/>
            </a:avLst>
          </a:prstGeom>
          <a:solidFill>
            <a:srgbClr val="ECE7D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pt-BR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neural</a:t>
            </a:r>
            <a:endParaRPr lang="pt-BR" sz="1400" dirty="0"/>
          </a:p>
        </p:txBody>
      </p:sp>
      <p:pic>
        <p:nvPicPr>
          <p:cNvPr id="2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53456" y="5133975"/>
            <a:ext cx="304800" cy="1524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85256" y="5010150"/>
            <a:ext cx="1591072" cy="400050"/>
          </a:xfrm>
          <a:prstGeom prst="roundRect">
            <a:avLst>
              <a:gd name="adj" fmla="val 44444"/>
            </a:avLst>
          </a:prstGeom>
          <a:solidFill>
            <a:srgbClr val="ECE7D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pt-BR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otimizada</a:t>
            </a:r>
            <a:endParaRPr lang="pt-BR" sz="1400" dirty="0"/>
          </a:p>
        </p:txBody>
      </p:sp>
      <p:pic>
        <p:nvPicPr>
          <p:cNvPr id="23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03327" y="5133975"/>
            <a:ext cx="304800" cy="1524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435127" y="5010150"/>
            <a:ext cx="1749127" cy="400050"/>
          </a:xfrm>
          <a:prstGeom prst="roundRect">
            <a:avLst>
              <a:gd name="adj" fmla="val 44444"/>
            </a:avLst>
          </a:prstGeom>
          <a:solidFill>
            <a:srgbClr val="ECE7D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pt-BR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final</a:t>
            </a:r>
            <a:endParaRPr lang="pt-BR" sz="1400" dirty="0"/>
          </a:p>
        </p:txBody>
      </p:sp>
      <p:sp>
        <p:nvSpPr>
          <p:cNvPr id="25" name="Text 20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26" name="Text 21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pt-BR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F6418-D1AA-1F4F-F15F-D1F35094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9E2067-21DD-77CA-9DF1-BB2C15A935C8}"/>
              </a:ext>
            </a:extLst>
          </p:cNvPr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 · SCIKIT-LEARN</a:t>
            </a:r>
            <a:endParaRPr lang="pt-BR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478E0D-E81C-A6ED-2835-3BC9B76A3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a </a:t>
            </a:r>
            <a:r>
              <a:rPr lang="pt-BR" sz="3400" b="1" i="0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pt-BR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3132B5-AFE5-FC9C-DFBC-9BB4DB3A2258}"/>
              </a:ext>
            </a:extLst>
          </p:cNvPr>
          <p:cNvSpPr/>
          <p:nvPr/>
        </p:nvSpPr>
        <p:spPr>
          <a:xfrm>
            <a:off x="812800" y="1822450"/>
            <a:ext cx="10883392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pt-BR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biblioteca de aprendizado de máquina clássico, com uma interface única para modelos, preparação de dados, métricas e validação.</a:t>
            </a:r>
            <a:endParaRPr lang="pt-BR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2EA0CDB-9C8E-1966-6659-E21A0686B048}"/>
              </a:ext>
            </a:extLst>
          </p:cNvPr>
          <p:cNvSpPr/>
          <p:nvPr/>
        </p:nvSpPr>
        <p:spPr>
          <a:xfrm>
            <a:off x="815975" y="2803525"/>
            <a:ext cx="2482850" cy="1663700"/>
          </a:xfrm>
          <a:prstGeom prst="roundRect">
            <a:avLst>
              <a:gd name="adj" fmla="val 5916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765EE2-0996-4820-4107-E22042EDD46B}"/>
              </a:ext>
            </a:extLst>
          </p:cNvPr>
          <p:cNvSpPr/>
          <p:nvPr/>
        </p:nvSpPr>
        <p:spPr>
          <a:xfrm>
            <a:off x="1073150" y="30607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pt-BR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A6C62E-F3F5-DA80-5CF7-02776B80F5C6}"/>
              </a:ext>
            </a:extLst>
          </p:cNvPr>
          <p:cNvSpPr/>
          <p:nvPr/>
        </p:nvSpPr>
        <p:spPr>
          <a:xfrm>
            <a:off x="1073150" y="3467100"/>
            <a:ext cx="20275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Classificação, regressão, agrupamento</a:t>
            </a:r>
            <a:endParaRPr lang="pt-BR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E0E63B3-4F23-3095-182D-B380803DA10D}"/>
              </a:ext>
            </a:extLst>
          </p:cNvPr>
          <p:cNvSpPr/>
          <p:nvPr/>
        </p:nvSpPr>
        <p:spPr>
          <a:xfrm>
            <a:off x="3508375" y="2803525"/>
            <a:ext cx="2482850" cy="1663700"/>
          </a:xfrm>
          <a:prstGeom prst="roundRect">
            <a:avLst>
              <a:gd name="adj" fmla="val 5916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952B14-62FF-E003-241E-628A15D850FC}"/>
              </a:ext>
            </a:extLst>
          </p:cNvPr>
          <p:cNvSpPr/>
          <p:nvPr/>
        </p:nvSpPr>
        <p:spPr>
          <a:xfrm>
            <a:off x="3765550" y="30607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pt-BR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9669ED8-ED90-941F-041A-2784A88626E0}"/>
              </a:ext>
            </a:extLst>
          </p:cNvPr>
          <p:cNvSpPr/>
          <p:nvPr/>
        </p:nvSpPr>
        <p:spPr>
          <a:xfrm>
            <a:off x="3765550" y="3467100"/>
            <a:ext cx="20275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Padronização, codificação, imputação</a:t>
            </a:r>
            <a:endParaRPr lang="pt-BR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4706000-89B0-9C58-4F1D-667416C5A7C7}"/>
              </a:ext>
            </a:extLst>
          </p:cNvPr>
          <p:cNvSpPr/>
          <p:nvPr/>
        </p:nvSpPr>
        <p:spPr>
          <a:xfrm>
            <a:off x="6200775" y="2803525"/>
            <a:ext cx="2482850" cy="1663700"/>
          </a:xfrm>
          <a:prstGeom prst="roundRect">
            <a:avLst>
              <a:gd name="adj" fmla="val 5916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DE4D661-2F14-2AC3-B0B0-670CDCEB7CAA}"/>
              </a:ext>
            </a:extLst>
          </p:cNvPr>
          <p:cNvSpPr/>
          <p:nvPr/>
        </p:nvSpPr>
        <p:spPr>
          <a:xfrm>
            <a:off x="6457950" y="30607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</a:t>
            </a:r>
            <a:endParaRPr lang="pt-BR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59C63C8-F7F0-5F24-D8A2-CBE8BC09F670}"/>
              </a:ext>
            </a:extLst>
          </p:cNvPr>
          <p:cNvSpPr/>
          <p:nvPr/>
        </p:nvSpPr>
        <p:spPr>
          <a:xfrm>
            <a:off x="6457950" y="3467100"/>
            <a:ext cx="20275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Acurácia, F1, matriz de confusão</a:t>
            </a:r>
            <a:endParaRPr lang="pt-BR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13C08FE-A03F-E69C-E2A2-5441D89D099D}"/>
              </a:ext>
            </a:extLst>
          </p:cNvPr>
          <p:cNvSpPr/>
          <p:nvPr/>
        </p:nvSpPr>
        <p:spPr>
          <a:xfrm>
            <a:off x="8893175" y="2803525"/>
            <a:ext cx="2482850" cy="1663700"/>
          </a:xfrm>
          <a:prstGeom prst="roundRect">
            <a:avLst>
              <a:gd name="adj" fmla="val 5916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AE2E87-5ACF-4D13-7F5C-24F7C9524C49}"/>
              </a:ext>
            </a:extLst>
          </p:cNvPr>
          <p:cNvSpPr/>
          <p:nvPr/>
        </p:nvSpPr>
        <p:spPr>
          <a:xfrm>
            <a:off x="9150350" y="30607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pt-BR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208BB2F-BC7C-A02B-E4D3-58DAB9BA9F7E}"/>
              </a:ext>
            </a:extLst>
          </p:cNvPr>
          <p:cNvSpPr/>
          <p:nvPr/>
        </p:nvSpPr>
        <p:spPr>
          <a:xfrm>
            <a:off x="9150350" y="3467100"/>
            <a:ext cx="2027555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Divisões, validação cruzada, busca em grade</a:t>
            </a:r>
            <a:endParaRPr lang="pt-BR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2BEC348-5D8A-0300-7204-E996CB4DE450}"/>
              </a:ext>
            </a:extLst>
          </p:cNvPr>
          <p:cNvSpPr/>
          <p:nvPr/>
        </p:nvSpPr>
        <p:spPr>
          <a:xfrm>
            <a:off x="812800" y="472440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escopo: redes neurais profundas e GPU.</a:t>
            </a:r>
            <a:endParaRPr lang="pt-BR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BB84CCB-155B-E83E-9587-C40A1ED60E52}"/>
              </a:ext>
            </a:extLst>
          </p:cNvPr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FD02747-C0CE-2173-A77E-950B23DA6159}"/>
              </a:ext>
            </a:extLst>
          </p:cNvPr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pt-BR" sz="1200" dirty="0"/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42EE1E73-B9DB-DC95-AF6B-C600FA1E5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3175" y="0"/>
            <a:ext cx="3084094" cy="166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59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 · SCIKIT-LEARN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guia de escolha do estimador</a:t>
            </a:r>
            <a:endParaRPr lang="pt-BR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22450"/>
            <a:ext cx="108833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documentação traz um fluxograma que sugere por onde começar, conforme o problema: </a:t>
            </a:r>
            <a:r>
              <a:rPr lang="pt-BR" sz="1600" u="sng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the right estimator</a:t>
            </a: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BR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638425"/>
            <a:ext cx="1743670" cy="1117600"/>
          </a:xfrm>
          <a:prstGeom prst="roundRect">
            <a:avLst>
              <a:gd name="adj" fmla="val 8807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996950" y="2819400"/>
            <a:ext cx="14325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50 amostras?</a:t>
            </a:r>
            <a:endParaRPr lang="pt-BR" sz="1600" dirty="0"/>
          </a:p>
        </p:txBody>
      </p:sp>
      <p:sp>
        <p:nvSpPr>
          <p:cNvPr id="7" name="Text 5"/>
          <p:cNvSpPr/>
          <p:nvPr/>
        </p:nvSpPr>
        <p:spPr>
          <a:xfrm>
            <a:off x="996950" y="3365500"/>
            <a:ext cx="143252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pt-BR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64420" y="3133725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23195" y="2638425"/>
            <a:ext cx="1743670" cy="1117600"/>
          </a:xfrm>
          <a:prstGeom prst="roundRect">
            <a:avLst>
              <a:gd name="adj" fmla="val 8807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7"/>
          <p:cNvSpPr/>
          <p:nvPr/>
        </p:nvSpPr>
        <p:spPr>
          <a:xfrm>
            <a:off x="3204170" y="2819400"/>
            <a:ext cx="14325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Prever uma categoria?</a:t>
            </a:r>
            <a:endParaRPr lang="pt-BR" sz="1600" dirty="0"/>
          </a:p>
        </p:txBody>
      </p:sp>
      <p:sp>
        <p:nvSpPr>
          <p:cNvPr id="11" name="Text 8"/>
          <p:cNvSpPr/>
          <p:nvPr/>
        </p:nvSpPr>
        <p:spPr>
          <a:xfrm>
            <a:off x="3204170" y="3365500"/>
            <a:ext cx="143252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pt-BR" sz="1200" dirty="0"/>
          </a:p>
        </p:txBody>
      </p:sp>
      <p:pic>
        <p:nvPicPr>
          <p:cNvPr id="12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71641" y="3133725"/>
            <a:ext cx="254000" cy="127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230416" y="2638425"/>
            <a:ext cx="1743670" cy="1117600"/>
          </a:xfrm>
          <a:prstGeom prst="roundRect">
            <a:avLst>
              <a:gd name="adj" fmla="val 8807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0"/>
          <p:cNvSpPr/>
          <p:nvPr/>
        </p:nvSpPr>
        <p:spPr>
          <a:xfrm>
            <a:off x="5411391" y="2819400"/>
            <a:ext cx="14325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rotulados?</a:t>
            </a:r>
            <a:endParaRPr lang="pt-BR" sz="1600" dirty="0"/>
          </a:p>
        </p:txBody>
      </p:sp>
      <p:sp>
        <p:nvSpPr>
          <p:cNvPr id="15" name="Text 11"/>
          <p:cNvSpPr/>
          <p:nvPr/>
        </p:nvSpPr>
        <p:spPr>
          <a:xfrm>
            <a:off x="5411391" y="3365500"/>
            <a:ext cx="143252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pt-BR" sz="1200" dirty="0"/>
          </a:p>
        </p:txBody>
      </p:sp>
      <p:pic>
        <p:nvPicPr>
          <p:cNvPr id="16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78861" y="3133725"/>
            <a:ext cx="254000" cy="1270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437636" y="2638425"/>
            <a:ext cx="1743670" cy="1117600"/>
          </a:xfrm>
          <a:prstGeom prst="roundRect">
            <a:avLst>
              <a:gd name="adj" fmla="val 8807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Text 13"/>
          <p:cNvSpPr/>
          <p:nvPr/>
        </p:nvSpPr>
        <p:spPr>
          <a:xfrm>
            <a:off x="7618611" y="2819400"/>
            <a:ext cx="14325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 100 mil amostras?</a:t>
            </a:r>
            <a:endParaRPr lang="pt-BR" sz="1600" dirty="0"/>
          </a:p>
        </p:txBody>
      </p:sp>
      <p:sp>
        <p:nvSpPr>
          <p:cNvPr id="19" name="Text 14"/>
          <p:cNvSpPr/>
          <p:nvPr/>
        </p:nvSpPr>
        <p:spPr>
          <a:xfrm>
            <a:off x="7618611" y="3365500"/>
            <a:ext cx="143252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pt-BR" sz="1200" dirty="0"/>
          </a:p>
        </p:txBody>
      </p:sp>
      <p:pic>
        <p:nvPicPr>
          <p:cNvPr id="20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86081" y="3133725"/>
            <a:ext cx="254000" cy="1270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641681" y="2740025"/>
            <a:ext cx="1737320" cy="914400"/>
          </a:xfrm>
          <a:prstGeom prst="roundRect">
            <a:avLst>
              <a:gd name="adj" fmla="val 11111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2" name="Text 16"/>
          <p:cNvSpPr/>
          <p:nvPr/>
        </p:nvSpPr>
        <p:spPr>
          <a:xfrm>
            <a:off x="9819481" y="2917825"/>
            <a:ext cx="143252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pt-BR" sz="1600" b="1" dirty="0" err="1">
                <a:solidFill>
                  <a:srgbClr val="F7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LinearSVC</a:t>
            </a:r>
            <a:endParaRPr lang="pt-BR" sz="1600" dirty="0"/>
          </a:p>
        </p:txBody>
      </p:sp>
      <p:sp>
        <p:nvSpPr>
          <p:cNvPr id="23" name="Text 17"/>
          <p:cNvSpPr/>
          <p:nvPr/>
        </p:nvSpPr>
        <p:spPr>
          <a:xfrm>
            <a:off x="9819481" y="3267075"/>
            <a:ext cx="143252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pt-BR" sz="1200" dirty="0"/>
          </a:p>
        </p:txBody>
      </p:sp>
      <p:sp>
        <p:nvSpPr>
          <p:cNvPr id="24" name="Shape 18"/>
          <p:cNvSpPr/>
          <p:nvPr/>
        </p:nvSpPr>
        <p:spPr>
          <a:xfrm>
            <a:off x="812800" y="4298949"/>
            <a:ext cx="5175250" cy="1314451"/>
          </a:xfrm>
          <a:prstGeom prst="roundRect">
            <a:avLst>
              <a:gd name="adj" fmla="val 74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5" name="Text 19"/>
          <p:cNvSpPr/>
          <p:nvPr/>
        </p:nvSpPr>
        <p:spPr>
          <a:xfrm>
            <a:off x="1019175" y="4505325"/>
            <a:ext cx="4905375" cy="40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não bastar</a:t>
            </a:r>
            <a:endParaRPr lang="pt-BR" sz="2000" dirty="0"/>
          </a:p>
        </p:txBody>
      </p:sp>
      <p:sp>
        <p:nvSpPr>
          <p:cNvPr id="26" name="Text 20"/>
          <p:cNvSpPr/>
          <p:nvPr/>
        </p:nvSpPr>
        <p:spPr>
          <a:xfrm>
            <a:off x="1019175" y="4936387"/>
            <a:ext cx="4905375" cy="64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guia segue para </a:t>
            </a:r>
            <a:r>
              <a:rPr lang="pt-BR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KNeighborsClassifier</a:t>
            </a:r>
            <a:r>
              <a:rPr lang="pt-BR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SVC e classificadores de ensemble.</a:t>
            </a:r>
            <a:endParaRPr lang="pt-BR" dirty="0"/>
          </a:p>
        </p:txBody>
      </p:sp>
      <p:sp>
        <p:nvSpPr>
          <p:cNvPr id="27" name="Shape 21"/>
          <p:cNvSpPr/>
          <p:nvPr/>
        </p:nvSpPr>
        <p:spPr>
          <a:xfrm>
            <a:off x="6197600" y="4298949"/>
            <a:ext cx="5175250" cy="1314451"/>
          </a:xfrm>
          <a:prstGeom prst="roundRect">
            <a:avLst>
              <a:gd name="adj" fmla="val 74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Text 22"/>
          <p:cNvSpPr/>
          <p:nvPr/>
        </p:nvSpPr>
        <p:spPr>
          <a:xfrm>
            <a:off x="6403975" y="4505325"/>
            <a:ext cx="4905375" cy="40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avisos</a:t>
            </a:r>
            <a:endParaRPr lang="pt-BR" sz="2000" dirty="0"/>
          </a:p>
        </p:txBody>
      </p:sp>
      <p:sp>
        <p:nvSpPr>
          <p:cNvPr id="29" name="Text 23"/>
          <p:cNvSpPr/>
          <p:nvPr/>
        </p:nvSpPr>
        <p:spPr>
          <a:xfrm>
            <a:off x="6403975" y="4911725"/>
            <a:ext cx="4905375" cy="64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 guia </a:t>
            </a:r>
            <a:r>
              <a:rPr lang="pt-BR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aproximado</a:t>
            </a:r>
            <a:r>
              <a:rPr lang="pt-BR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uma regra. E só cobre modelos do </a:t>
            </a:r>
            <a:r>
              <a:rPr lang="pt-BR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sem redes neurais.</a:t>
            </a:r>
            <a:endParaRPr lang="pt-BR" dirty="0"/>
          </a:p>
        </p:txBody>
      </p:sp>
      <p:sp>
        <p:nvSpPr>
          <p:cNvPr id="30" name="Text 24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31" name="Text 25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pt-BR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 · SCIKIT-LEARN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interface do estimador</a:t>
            </a:r>
            <a:endParaRPr lang="pt-BR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25625"/>
            <a:ext cx="3549650" cy="965200"/>
          </a:xfrm>
          <a:prstGeom prst="roundRect">
            <a:avLst>
              <a:gd name="adj" fmla="val 10197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1022350" y="2006600"/>
            <a:ext cx="32310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fit</a:t>
            </a:r>
            <a:r>
              <a:rPr lang="pt-BR" sz="2000" b="1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(X, </a:t>
            </a:r>
            <a:r>
              <a:rPr lang="pt-BR" sz="2000" b="1" dirty="0" err="1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</a:t>
            </a:r>
            <a:r>
              <a:rPr lang="pt-BR" sz="2000" b="1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pt-BR" sz="2000" dirty="0"/>
          </a:p>
        </p:txBody>
      </p:sp>
      <p:sp>
        <p:nvSpPr>
          <p:cNvPr id="6" name="Text 4"/>
          <p:cNvSpPr/>
          <p:nvPr/>
        </p:nvSpPr>
        <p:spPr>
          <a:xfrm>
            <a:off x="1022350" y="2362200"/>
            <a:ext cx="32310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a partir dos dados</a:t>
            </a:r>
            <a:endParaRPr lang="pt-BR" sz="1400" dirty="0"/>
          </a:p>
        </p:txBody>
      </p:sp>
      <p:sp>
        <p:nvSpPr>
          <p:cNvPr id="7" name="Shape 5"/>
          <p:cNvSpPr/>
          <p:nvPr/>
        </p:nvSpPr>
        <p:spPr>
          <a:xfrm>
            <a:off x="815975" y="2949575"/>
            <a:ext cx="3549650" cy="965200"/>
          </a:xfrm>
          <a:prstGeom prst="roundRect">
            <a:avLst>
              <a:gd name="adj" fmla="val 10197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1022350" y="3130550"/>
            <a:ext cx="32310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predict</a:t>
            </a:r>
            <a:r>
              <a:rPr lang="pt-BR" sz="2000" b="1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(X)</a:t>
            </a:r>
            <a:endParaRPr lang="pt-BR" sz="2000" dirty="0"/>
          </a:p>
        </p:txBody>
      </p:sp>
      <p:sp>
        <p:nvSpPr>
          <p:cNvPr id="9" name="Text 7"/>
          <p:cNvSpPr/>
          <p:nvPr/>
        </p:nvSpPr>
        <p:spPr>
          <a:xfrm>
            <a:off x="1022350" y="3486150"/>
            <a:ext cx="32310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previsões</a:t>
            </a:r>
            <a:endParaRPr lang="pt-BR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4073525"/>
            <a:ext cx="3549650" cy="965200"/>
          </a:xfrm>
          <a:prstGeom prst="roundRect">
            <a:avLst>
              <a:gd name="adj" fmla="val 10197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/>
          <p:nvPr/>
        </p:nvSpPr>
        <p:spPr>
          <a:xfrm>
            <a:off x="1022350" y="4254500"/>
            <a:ext cx="32310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transform</a:t>
            </a:r>
            <a:r>
              <a:rPr lang="pt-BR" sz="2000" b="1" dirty="0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(X)</a:t>
            </a:r>
            <a:endParaRPr lang="pt-BR" sz="2000" dirty="0"/>
          </a:p>
        </p:txBody>
      </p:sp>
      <p:sp>
        <p:nvSpPr>
          <p:cNvPr id="12" name="Text 10"/>
          <p:cNvSpPr/>
          <p:nvPr/>
        </p:nvSpPr>
        <p:spPr>
          <a:xfrm>
            <a:off x="1022350" y="4610100"/>
            <a:ext cx="32310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um pré-processamento</a:t>
            </a:r>
            <a:endParaRPr lang="pt-BR" sz="1400" dirty="0"/>
          </a:p>
        </p:txBody>
      </p:sp>
      <p:sp>
        <p:nvSpPr>
          <p:cNvPr id="13" name="Text 11"/>
          <p:cNvSpPr/>
          <p:nvPr/>
        </p:nvSpPr>
        <p:spPr>
          <a:xfrm>
            <a:off x="4673600" y="1822450"/>
            <a:ext cx="690676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todos os objetos seguem a mesma interface, as peças se encaixam em um </a:t>
            </a:r>
            <a:r>
              <a:rPr lang="pt-BR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r>
              <a:rPr lang="pt-BR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tratado como um modelo só.</a:t>
            </a:r>
            <a:endParaRPr lang="pt-BR" dirty="0"/>
          </a:p>
        </p:txBody>
      </p:sp>
      <p:sp>
        <p:nvSpPr>
          <p:cNvPr id="14" name="Text 12"/>
          <p:cNvSpPr/>
          <p:nvPr/>
        </p:nvSpPr>
        <p:spPr>
          <a:xfrm>
            <a:off x="4673600" y="2533650"/>
            <a:ext cx="6705600" cy="1739900"/>
          </a:xfrm>
          <a:prstGeom prst="roundRect">
            <a:avLst>
              <a:gd name="adj" fmla="val 5839"/>
            </a:avLst>
          </a:prstGeom>
          <a:solidFill>
            <a:srgbClr val="1B2430"/>
          </a:solidFill>
          <a:ln/>
        </p:spPr>
        <p:txBody>
          <a:bodyPr wrap="none" lIns="224242" tIns="173442" rIns="38314" bIns="1480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modelo = Pipeline([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(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"escala"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StandardScaler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()),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(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 err="1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svc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LinearSVC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()),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])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modelo.fit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X_treino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y_treino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pt-BR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pt-BR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 · SCIKIT-LEARN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 busca de </a:t>
            </a:r>
            <a:r>
              <a:rPr lang="pt-BR" sz="3400" b="1" i="0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hiperparâmetros</a:t>
            </a:r>
            <a:endParaRPr lang="pt-BR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22450"/>
            <a:ext cx="6004520" cy="552450"/>
          </a:xfrm>
          <a:prstGeom prst="roundRect">
            <a:avLst>
              <a:gd name="adj" fmla="val 13793"/>
            </a:avLst>
          </a:prstGeom>
          <a:solidFill>
            <a:srgbClr val="1B2430"/>
          </a:solidFill>
          <a:ln/>
        </p:spPr>
        <p:txBody>
          <a:bodyPr wrap="square" lIns="130082" tIns="130082" rIns="0" bIns="1046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· 60%</a:t>
            </a:r>
            <a:endParaRPr lang="pt-BR" sz="1400" dirty="0"/>
          </a:p>
        </p:txBody>
      </p:sp>
      <p:sp>
        <p:nvSpPr>
          <p:cNvPr id="5" name="Text 3"/>
          <p:cNvSpPr/>
          <p:nvPr/>
        </p:nvSpPr>
        <p:spPr>
          <a:xfrm>
            <a:off x="6893520" y="1822450"/>
            <a:ext cx="2204740" cy="552450"/>
          </a:xfrm>
          <a:prstGeom prst="roundRect">
            <a:avLst>
              <a:gd name="adj" fmla="val 13793"/>
            </a:avLst>
          </a:prstGeom>
          <a:solidFill>
            <a:srgbClr val="B8481A"/>
          </a:solidFill>
          <a:ln/>
        </p:spPr>
        <p:txBody>
          <a:bodyPr wrap="square" lIns="130082" tIns="130082" rIns="73084" bIns="1046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b="1" dirty="0">
                <a:solidFill>
                  <a:srgbClr val="FFF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· 20%</a:t>
            </a:r>
            <a:endParaRPr lang="pt-BR" sz="1400" dirty="0"/>
          </a:p>
        </p:txBody>
      </p:sp>
      <p:sp>
        <p:nvSpPr>
          <p:cNvPr id="6" name="Text 4"/>
          <p:cNvSpPr/>
          <p:nvPr/>
        </p:nvSpPr>
        <p:spPr>
          <a:xfrm>
            <a:off x="9174460" y="1822450"/>
            <a:ext cx="2204740" cy="552450"/>
          </a:xfrm>
          <a:prstGeom prst="roundRect">
            <a:avLst>
              <a:gd name="adj" fmla="val 13793"/>
            </a:avLst>
          </a:prstGeom>
          <a:solidFill>
            <a:srgbClr val="D9D3C5"/>
          </a:solidFill>
          <a:ln/>
        </p:spPr>
        <p:txBody>
          <a:bodyPr wrap="square" lIns="130082" tIns="130082" rIns="73084" bIns="1046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· 20%</a:t>
            </a:r>
            <a:endParaRPr lang="pt-BR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628900"/>
            <a:ext cx="4709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cruzada, </a:t>
            </a: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5</a:t>
            </a:r>
            <a:endParaRPr lang="pt-BR" sz="2000" dirty="0"/>
          </a:p>
        </p:txBody>
      </p:sp>
      <p:sp>
        <p:nvSpPr>
          <p:cNvPr id="8" name="Text 6"/>
          <p:cNvSpPr/>
          <p:nvPr/>
        </p:nvSpPr>
        <p:spPr>
          <a:xfrm>
            <a:off x="812800" y="3038475"/>
            <a:ext cx="939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1</a:t>
            </a:r>
            <a:endParaRPr lang="pt-BR" sz="1200" dirty="0"/>
          </a:p>
        </p:txBody>
      </p:sp>
      <p:sp>
        <p:nvSpPr>
          <p:cNvPr id="9" name="Shape 7"/>
          <p:cNvSpPr/>
          <p:nvPr/>
        </p:nvSpPr>
        <p:spPr>
          <a:xfrm>
            <a:off x="1765300" y="30353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B8481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0" name="Shape 8"/>
          <p:cNvSpPr/>
          <p:nvPr/>
        </p:nvSpPr>
        <p:spPr>
          <a:xfrm>
            <a:off x="2501900" y="30353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1" name="Shape 9"/>
          <p:cNvSpPr/>
          <p:nvPr/>
        </p:nvSpPr>
        <p:spPr>
          <a:xfrm>
            <a:off x="3238500" y="30353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Shape 10"/>
          <p:cNvSpPr/>
          <p:nvPr/>
        </p:nvSpPr>
        <p:spPr>
          <a:xfrm>
            <a:off x="3975100" y="30353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4711700" y="30353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/>
          <p:nvPr/>
        </p:nvSpPr>
        <p:spPr>
          <a:xfrm>
            <a:off x="812800" y="3317875"/>
            <a:ext cx="939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2</a:t>
            </a:r>
            <a:endParaRPr lang="pt-BR" sz="1200" dirty="0"/>
          </a:p>
        </p:txBody>
      </p:sp>
      <p:sp>
        <p:nvSpPr>
          <p:cNvPr id="15" name="Shape 13"/>
          <p:cNvSpPr/>
          <p:nvPr/>
        </p:nvSpPr>
        <p:spPr>
          <a:xfrm>
            <a:off x="1765300" y="33147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6" name="Shape 14"/>
          <p:cNvSpPr/>
          <p:nvPr/>
        </p:nvSpPr>
        <p:spPr>
          <a:xfrm>
            <a:off x="2501900" y="33147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B8481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7" name="Shape 15"/>
          <p:cNvSpPr/>
          <p:nvPr/>
        </p:nvSpPr>
        <p:spPr>
          <a:xfrm>
            <a:off x="3238500" y="33147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3975100" y="33147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9" name="Shape 17"/>
          <p:cNvSpPr/>
          <p:nvPr/>
        </p:nvSpPr>
        <p:spPr>
          <a:xfrm>
            <a:off x="4711700" y="33147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/>
          <p:nvPr/>
        </p:nvSpPr>
        <p:spPr>
          <a:xfrm>
            <a:off x="812800" y="3597275"/>
            <a:ext cx="939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3</a:t>
            </a:r>
            <a:endParaRPr lang="pt-BR" sz="1200" dirty="0"/>
          </a:p>
        </p:txBody>
      </p:sp>
      <p:sp>
        <p:nvSpPr>
          <p:cNvPr id="21" name="Shape 19"/>
          <p:cNvSpPr/>
          <p:nvPr/>
        </p:nvSpPr>
        <p:spPr>
          <a:xfrm>
            <a:off x="1765300" y="35941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2" name="Shape 20"/>
          <p:cNvSpPr/>
          <p:nvPr/>
        </p:nvSpPr>
        <p:spPr>
          <a:xfrm>
            <a:off x="2501900" y="35941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3238500" y="35941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B8481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4" name="Shape 22"/>
          <p:cNvSpPr/>
          <p:nvPr/>
        </p:nvSpPr>
        <p:spPr>
          <a:xfrm>
            <a:off x="3975100" y="35941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5" name="Shape 23"/>
          <p:cNvSpPr/>
          <p:nvPr/>
        </p:nvSpPr>
        <p:spPr>
          <a:xfrm>
            <a:off x="4711700" y="35941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/>
          <p:nvPr/>
        </p:nvSpPr>
        <p:spPr>
          <a:xfrm>
            <a:off x="812800" y="3876675"/>
            <a:ext cx="939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4</a:t>
            </a:r>
            <a:endParaRPr lang="pt-BR" sz="1200" dirty="0"/>
          </a:p>
        </p:txBody>
      </p:sp>
      <p:sp>
        <p:nvSpPr>
          <p:cNvPr id="27" name="Shape 25"/>
          <p:cNvSpPr/>
          <p:nvPr/>
        </p:nvSpPr>
        <p:spPr>
          <a:xfrm>
            <a:off x="1765300" y="38735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2501900" y="38735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9" name="Shape 27"/>
          <p:cNvSpPr/>
          <p:nvPr/>
        </p:nvSpPr>
        <p:spPr>
          <a:xfrm>
            <a:off x="3238500" y="38735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0" name="Shape 28"/>
          <p:cNvSpPr/>
          <p:nvPr/>
        </p:nvSpPr>
        <p:spPr>
          <a:xfrm>
            <a:off x="3975100" y="38735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B8481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1" name="Shape 29"/>
          <p:cNvSpPr/>
          <p:nvPr/>
        </p:nvSpPr>
        <p:spPr>
          <a:xfrm>
            <a:off x="4711700" y="38735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2" name="Text 30"/>
          <p:cNvSpPr/>
          <p:nvPr/>
        </p:nvSpPr>
        <p:spPr>
          <a:xfrm>
            <a:off x="812800" y="4156075"/>
            <a:ext cx="939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5</a:t>
            </a:r>
            <a:endParaRPr lang="pt-BR" sz="1200" dirty="0"/>
          </a:p>
        </p:txBody>
      </p:sp>
      <p:sp>
        <p:nvSpPr>
          <p:cNvPr id="33" name="Shape 31"/>
          <p:cNvSpPr/>
          <p:nvPr/>
        </p:nvSpPr>
        <p:spPr>
          <a:xfrm>
            <a:off x="1765300" y="41529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4" name="Shape 32"/>
          <p:cNvSpPr/>
          <p:nvPr/>
        </p:nvSpPr>
        <p:spPr>
          <a:xfrm>
            <a:off x="2501900" y="41529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5" name="Shape 33"/>
          <p:cNvSpPr/>
          <p:nvPr/>
        </p:nvSpPr>
        <p:spPr>
          <a:xfrm>
            <a:off x="3238500" y="41529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6" name="Shape 34"/>
          <p:cNvSpPr/>
          <p:nvPr/>
        </p:nvSpPr>
        <p:spPr>
          <a:xfrm>
            <a:off x="3975100" y="41529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C9C2B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7" name="Shape 35"/>
          <p:cNvSpPr/>
          <p:nvPr/>
        </p:nvSpPr>
        <p:spPr>
          <a:xfrm>
            <a:off x="4711700" y="4152900"/>
            <a:ext cx="673100" cy="215900"/>
          </a:xfrm>
          <a:prstGeom prst="roundRect">
            <a:avLst>
              <a:gd name="adj" fmla="val 17647"/>
            </a:avLst>
          </a:prstGeom>
          <a:solidFill>
            <a:srgbClr val="B8481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8" name="Text 36"/>
          <p:cNvSpPr/>
          <p:nvPr/>
        </p:nvSpPr>
        <p:spPr>
          <a:xfrm>
            <a:off x="812800" y="4470400"/>
            <a:ext cx="470916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cada rodada, a partição em laranja valida e as outras quatro treinam.</a:t>
            </a:r>
            <a:endParaRPr lang="pt-BR" sz="1200" dirty="0"/>
          </a:p>
        </p:txBody>
      </p:sp>
      <p:sp>
        <p:nvSpPr>
          <p:cNvPr id="39" name="Text 37"/>
          <p:cNvSpPr/>
          <p:nvPr/>
        </p:nvSpPr>
        <p:spPr>
          <a:xfrm>
            <a:off x="5689600" y="2628900"/>
            <a:ext cx="586028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em grade</a:t>
            </a:r>
            <a:endParaRPr lang="pt-BR" sz="2000" dirty="0"/>
          </a:p>
        </p:txBody>
      </p:sp>
      <p:sp>
        <p:nvSpPr>
          <p:cNvPr id="40" name="Text 38"/>
          <p:cNvSpPr/>
          <p:nvPr/>
        </p:nvSpPr>
        <p:spPr>
          <a:xfrm>
            <a:off x="5689600" y="3035300"/>
            <a:ext cx="5689600" cy="2273300"/>
          </a:xfrm>
          <a:prstGeom prst="roundRect">
            <a:avLst>
              <a:gd name="adj" fmla="val 4469"/>
            </a:avLst>
          </a:prstGeom>
          <a:solidFill>
            <a:srgbClr val="1B2430"/>
          </a:solidFill>
          <a:ln/>
        </p:spPr>
        <p:txBody>
          <a:bodyPr wrap="none" lIns="224242" tIns="173442" rIns="68794" bIns="1480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busca =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GridSearchCV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modelo,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 err="1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svc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__C"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[0.01, 0.1, 1, 10]},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cv=5,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scoring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 err="1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accuracy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busca.fit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X_treino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y_treino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pt-BR" sz="1400" dirty="0"/>
          </a:p>
        </p:txBody>
      </p:sp>
      <p:sp>
        <p:nvSpPr>
          <p:cNvPr id="41" name="Text 39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42" name="Text 40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pt-BR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 · PYTORCH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</a:t>
            </a:r>
            <a:r>
              <a:rPr lang="pt-BR" sz="3400" b="1" i="0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pt-BR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22450"/>
            <a:ext cx="10883392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pt-BR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framework para construir e treinar redes neurais, baseado em tensores e no cálculo automático de gradientes.</a:t>
            </a:r>
            <a:endParaRPr lang="pt-BR" sz="2200" dirty="0"/>
          </a:p>
        </p:txBody>
      </p:sp>
      <p:sp>
        <p:nvSpPr>
          <p:cNvPr id="5" name="Shape 3"/>
          <p:cNvSpPr/>
          <p:nvPr/>
        </p:nvSpPr>
        <p:spPr>
          <a:xfrm>
            <a:off x="815975" y="2803525"/>
            <a:ext cx="5175250" cy="1416050"/>
          </a:xfrm>
          <a:prstGeom prst="roundRect">
            <a:avLst>
              <a:gd name="adj" fmla="val 69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1073150" y="30607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</a:t>
            </a:r>
            <a:endParaRPr lang="pt-BR" sz="2000" dirty="0"/>
          </a:p>
        </p:txBody>
      </p:sp>
      <p:sp>
        <p:nvSpPr>
          <p:cNvPr id="7" name="Text 5"/>
          <p:cNvSpPr/>
          <p:nvPr/>
        </p:nvSpPr>
        <p:spPr>
          <a:xfrm>
            <a:off x="1073150" y="3467100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</a:t>
            </a:r>
            <a:r>
              <a:rPr lang="pt-BR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r>
              <a:rPr lang="pt-BR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como os do </a:t>
            </a:r>
            <a:r>
              <a:rPr lang="pt-BR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r>
              <a:rPr lang="pt-BR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suporte a GPU.</a:t>
            </a:r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6200775" y="2803525"/>
            <a:ext cx="5175250" cy="1416050"/>
          </a:xfrm>
          <a:prstGeom prst="roundRect">
            <a:avLst>
              <a:gd name="adj" fmla="val 69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/>
          <p:nvPr/>
        </p:nvSpPr>
        <p:spPr>
          <a:xfrm>
            <a:off x="6457950" y="30607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Autograd</a:t>
            </a:r>
            <a:endParaRPr lang="pt-BR" sz="2000" dirty="0"/>
          </a:p>
        </p:txBody>
      </p:sp>
      <p:sp>
        <p:nvSpPr>
          <p:cNvPr id="10" name="Text 8"/>
          <p:cNvSpPr/>
          <p:nvPr/>
        </p:nvSpPr>
        <p:spPr>
          <a:xfrm>
            <a:off x="6457950" y="3467100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as operações e calcula os gradientes automaticamente.</a:t>
            </a:r>
            <a:endParaRPr lang="pt-BR" dirty="0"/>
          </a:p>
        </p:txBody>
      </p:sp>
      <p:sp>
        <p:nvSpPr>
          <p:cNvPr id="11" name="Text 9"/>
          <p:cNvSpPr/>
          <p:nvPr/>
        </p:nvSpPr>
        <p:spPr>
          <a:xfrm>
            <a:off x="812800" y="447675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20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pt-BR" sz="2000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20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você chama o </a:t>
            </a:r>
            <a:r>
              <a:rPr lang="pt-BR" sz="2000" b="1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r>
              <a:rPr lang="pt-BR" sz="20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 </a:t>
            </a:r>
            <a:r>
              <a:rPr lang="pt-BR" sz="2000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20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você escreve o </a:t>
            </a:r>
            <a:r>
              <a:rPr lang="pt-BR" sz="2000" b="1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r>
              <a:rPr lang="pt-BR" sz="20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BR" sz="2000" dirty="0"/>
          </a:p>
        </p:txBody>
      </p:sp>
      <p:sp>
        <p:nvSpPr>
          <p:cNvPr id="12" name="Text 10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pt-BR" sz="1200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DF74FC0A-67D9-083D-1D39-6B14F5BA60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1002" y="347436"/>
            <a:ext cx="3574796" cy="8814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 · PYTORCH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peças de um treino</a:t>
            </a:r>
            <a:endParaRPr lang="pt-BR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25625"/>
            <a:ext cx="5175250" cy="1416050"/>
          </a:xfrm>
          <a:prstGeom prst="roundRect">
            <a:avLst>
              <a:gd name="adj" fmla="val 69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1073150" y="20828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nn.Module</a:t>
            </a:r>
            <a:endParaRPr lang="pt-BR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489200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classe onde se definem as camadas e o caminho dos dados pela rede.</a:t>
            </a:r>
            <a:endParaRPr lang="pt-BR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825625"/>
            <a:ext cx="5175250" cy="1416050"/>
          </a:xfrm>
          <a:prstGeom prst="roundRect">
            <a:avLst>
              <a:gd name="adj" fmla="val 69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6457950" y="20828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 de perda</a:t>
            </a:r>
            <a:endParaRPr lang="pt-BR" sz="2000" dirty="0"/>
          </a:p>
        </p:txBody>
      </p:sp>
      <p:sp>
        <p:nvSpPr>
          <p:cNvPr id="9" name="Text 7"/>
          <p:cNvSpPr/>
          <p:nvPr/>
        </p:nvSpPr>
        <p:spPr>
          <a:xfrm>
            <a:off x="6457950" y="2489200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 o erro da rede. Em classificação, por exemplo, </a:t>
            </a:r>
            <a:r>
              <a:rPr lang="pt-BR" sz="1400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nn.CrossEntropyLoss</a:t>
            </a: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BR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451225"/>
            <a:ext cx="5175250" cy="1416050"/>
          </a:xfrm>
          <a:prstGeom prst="roundRect">
            <a:avLst>
              <a:gd name="adj" fmla="val 69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/>
          <p:nvPr/>
        </p:nvSpPr>
        <p:spPr>
          <a:xfrm>
            <a:off x="1073150" y="37084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Otimizador</a:t>
            </a:r>
            <a:endParaRPr lang="pt-BR" sz="2000" dirty="0"/>
          </a:p>
        </p:txBody>
      </p:sp>
      <p:sp>
        <p:nvSpPr>
          <p:cNvPr id="12" name="Text 10"/>
          <p:cNvSpPr/>
          <p:nvPr/>
        </p:nvSpPr>
        <p:spPr>
          <a:xfrm>
            <a:off x="1073150" y="4114800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 os pesos a partir dos gradientes. Exemplos: SGD, Adam, </a:t>
            </a:r>
            <a:r>
              <a:rPr lang="pt-BR" sz="1400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RMSprop</a:t>
            </a: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BR" sz="1400" dirty="0"/>
          </a:p>
        </p:txBody>
      </p:sp>
      <p:sp>
        <p:nvSpPr>
          <p:cNvPr id="13" name="Shape 11"/>
          <p:cNvSpPr/>
          <p:nvPr/>
        </p:nvSpPr>
        <p:spPr>
          <a:xfrm>
            <a:off x="6200775" y="3451225"/>
            <a:ext cx="5175250" cy="1416050"/>
          </a:xfrm>
          <a:prstGeom prst="roundRect">
            <a:avLst>
              <a:gd name="adj" fmla="val 69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/>
          <p:nvPr/>
        </p:nvSpPr>
        <p:spPr>
          <a:xfrm>
            <a:off x="6457950" y="37084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DataLoader</a:t>
            </a:r>
            <a:endParaRPr lang="pt-BR" sz="2000" dirty="0"/>
          </a:p>
        </p:txBody>
      </p:sp>
      <p:sp>
        <p:nvSpPr>
          <p:cNvPr id="15" name="Text 13"/>
          <p:cNvSpPr/>
          <p:nvPr/>
        </p:nvSpPr>
        <p:spPr>
          <a:xfrm>
            <a:off x="6457950" y="4114800"/>
            <a:ext cx="48007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Entregam os dados em lotes para o treino.</a:t>
            </a:r>
            <a:endParaRPr lang="pt-BR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pt-BR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 · PYTORCH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loop de treino</a:t>
            </a:r>
            <a:endParaRPr lang="pt-BR" sz="3400" dirty="0"/>
          </a:p>
        </p:txBody>
      </p:sp>
      <p:sp>
        <p:nvSpPr>
          <p:cNvPr id="4" name="Text 2"/>
          <p:cNvSpPr/>
          <p:nvPr/>
        </p:nvSpPr>
        <p:spPr>
          <a:xfrm>
            <a:off x="840879" y="1822450"/>
            <a:ext cx="4150221" cy="164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5921" indent="-225921" algn="l">
              <a:lnSpc>
                <a:spcPts val="2560"/>
              </a:lnSpc>
              <a:buSzPct val="100000"/>
              <a:buFontTx/>
              <a:buAutoNum type="arabicPeriod"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a saída da rede (</a:t>
            </a:r>
            <a:r>
              <a:rPr lang="pt-BR" sz="1600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pt-BR" sz="1600" dirty="0"/>
          </a:p>
          <a:p>
            <a:pPr marL="225921" indent="-225921" algn="l">
              <a:lnSpc>
                <a:spcPts val="2560"/>
              </a:lnSpc>
              <a:buSzPct val="100000"/>
              <a:buFontTx/>
              <a:buAutoNum type="arabicPeriod"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a perda</a:t>
            </a:r>
            <a:endParaRPr lang="pt-BR" sz="1600" dirty="0"/>
          </a:p>
          <a:p>
            <a:pPr marL="225921" indent="-225921" algn="l">
              <a:lnSpc>
                <a:spcPts val="2560"/>
              </a:lnSpc>
              <a:buSzPct val="100000"/>
              <a:buFontTx/>
              <a:buAutoNum type="arabicPeriod"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Zerar os gradientes anteriores</a:t>
            </a:r>
            <a:endParaRPr lang="pt-BR" sz="1600" dirty="0"/>
          </a:p>
          <a:p>
            <a:pPr marL="225921" indent="-225921" algn="l">
              <a:lnSpc>
                <a:spcPts val="2560"/>
              </a:lnSpc>
              <a:buSzPct val="100000"/>
              <a:buFontTx/>
              <a:buAutoNum type="arabicPeriod"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os gradientes (</a:t>
            </a:r>
            <a:r>
              <a:rPr lang="pt-BR" sz="1600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</a:t>
            </a: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pt-BR" sz="1600" dirty="0"/>
          </a:p>
          <a:p>
            <a:pPr marL="225921" indent="-225921" algn="l">
              <a:lnSpc>
                <a:spcPts val="2560"/>
              </a:lnSpc>
              <a:buSzPct val="100000"/>
              <a:buFontTx/>
              <a:buAutoNum type="arabicPeriod"/>
            </a:pPr>
            <a:r>
              <a:rPr lang="pt-BR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 os pesos</a:t>
            </a:r>
            <a:endParaRPr lang="pt-BR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594100"/>
            <a:ext cx="41859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passos se repetem a cada lote, por várias épocas.</a:t>
            </a:r>
            <a:endParaRPr lang="pt-BR" sz="1400" dirty="0"/>
          </a:p>
        </p:txBody>
      </p:sp>
      <p:sp>
        <p:nvSpPr>
          <p:cNvPr id="6" name="Text 4"/>
          <p:cNvSpPr/>
          <p:nvPr/>
        </p:nvSpPr>
        <p:spPr>
          <a:xfrm>
            <a:off x="5181600" y="1822450"/>
            <a:ext cx="6197600" cy="2006600"/>
          </a:xfrm>
          <a:prstGeom prst="roundRect">
            <a:avLst>
              <a:gd name="adj" fmla="val 5063"/>
            </a:avLst>
          </a:prstGeom>
          <a:solidFill>
            <a:srgbClr val="1B2430"/>
          </a:solidFill>
          <a:ln/>
        </p:spPr>
        <p:txBody>
          <a:bodyPr wrap="none" lIns="224242" tIns="173442" rIns="53554" bIns="1480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 X,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in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loader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saida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= modelo(X) </a:t>
            </a:r>
            <a:r>
              <a:rPr lang="pt-BR" sz="1400" dirty="0">
                <a:solidFill>
                  <a:srgbClr val="9AA5B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1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perda =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criterio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saida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 </a:t>
            </a:r>
            <a:r>
              <a:rPr lang="pt-BR" sz="1400" dirty="0">
                <a:solidFill>
                  <a:srgbClr val="9AA5B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2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otimizador.zero_grad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 </a:t>
            </a:r>
            <a:r>
              <a:rPr lang="pt-BR" sz="1400" dirty="0">
                <a:solidFill>
                  <a:srgbClr val="9AA5B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3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perda.backward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 </a:t>
            </a:r>
            <a:r>
              <a:rPr lang="pt-BR" sz="1400" dirty="0">
                <a:solidFill>
                  <a:srgbClr val="9AA5B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4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otimizador.step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 </a:t>
            </a:r>
            <a:r>
              <a:rPr lang="pt-BR" sz="1400" dirty="0">
                <a:solidFill>
                  <a:srgbClr val="9AA5B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5</a:t>
            </a:r>
            <a:endParaRPr lang="pt-BR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pt-BR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 · OPTUNA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</a:t>
            </a:r>
            <a:r>
              <a:rPr lang="pt-BR" sz="3400" b="1" i="0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22450"/>
            <a:ext cx="10883392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pt-BR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framework que automatiza a busca de </a:t>
            </a:r>
            <a:r>
              <a:rPr lang="pt-BR" sz="2200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hiperparâmetros</a:t>
            </a:r>
            <a:r>
              <a:rPr lang="pt-BR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funciona com qualquer biblioteca de modelos.</a:t>
            </a:r>
            <a:endParaRPr lang="pt-BR" sz="2200" dirty="0"/>
          </a:p>
        </p:txBody>
      </p:sp>
      <p:sp>
        <p:nvSpPr>
          <p:cNvPr id="5" name="Shape 3"/>
          <p:cNvSpPr/>
          <p:nvPr/>
        </p:nvSpPr>
        <p:spPr>
          <a:xfrm>
            <a:off x="815975" y="2803524"/>
            <a:ext cx="3380284" cy="1641475"/>
          </a:xfrm>
          <a:prstGeom prst="roundRect">
            <a:avLst>
              <a:gd name="adj" fmla="val 69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1073150" y="30607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 objetivo</a:t>
            </a:r>
            <a:endParaRPr lang="pt-BR" sz="2000" dirty="0"/>
          </a:p>
        </p:txBody>
      </p:sp>
      <p:sp>
        <p:nvSpPr>
          <p:cNvPr id="7" name="Text 5"/>
          <p:cNvSpPr/>
          <p:nvPr/>
        </p:nvSpPr>
        <p:spPr>
          <a:xfrm>
            <a:off x="1073150" y="3467099"/>
            <a:ext cx="2951912" cy="752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uma configuração, treina o modelo e devolve a métrica.</a:t>
            </a:r>
            <a:endParaRPr lang="pt-BR" sz="1600" dirty="0"/>
          </a:p>
        </p:txBody>
      </p:sp>
      <p:sp>
        <p:nvSpPr>
          <p:cNvPr id="8" name="Shape 6"/>
          <p:cNvSpPr/>
          <p:nvPr/>
        </p:nvSpPr>
        <p:spPr>
          <a:xfrm>
            <a:off x="4405809" y="2803525"/>
            <a:ext cx="3380284" cy="1641474"/>
          </a:xfrm>
          <a:prstGeom prst="roundRect">
            <a:avLst>
              <a:gd name="adj" fmla="val 69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/>
          <p:nvPr/>
        </p:nvSpPr>
        <p:spPr>
          <a:xfrm>
            <a:off x="4662984" y="30607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</a:t>
            </a:r>
            <a:endParaRPr lang="pt-BR" sz="2000" dirty="0"/>
          </a:p>
        </p:txBody>
      </p:sp>
      <p:sp>
        <p:nvSpPr>
          <p:cNvPr id="10" name="Text 8"/>
          <p:cNvSpPr/>
          <p:nvPr/>
        </p:nvSpPr>
        <p:spPr>
          <a:xfrm>
            <a:off x="4662984" y="3467099"/>
            <a:ext cx="2951912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execução da função objetivo com uma configuração.</a:t>
            </a:r>
            <a:endParaRPr lang="pt-BR" sz="1600" dirty="0"/>
          </a:p>
        </p:txBody>
      </p:sp>
      <p:sp>
        <p:nvSpPr>
          <p:cNvPr id="11" name="Shape 9"/>
          <p:cNvSpPr/>
          <p:nvPr/>
        </p:nvSpPr>
        <p:spPr>
          <a:xfrm>
            <a:off x="7995642" y="2803525"/>
            <a:ext cx="3380284" cy="1641474"/>
          </a:xfrm>
          <a:prstGeom prst="roundRect">
            <a:avLst>
              <a:gd name="adj" fmla="val 69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/>
          <p:nvPr/>
        </p:nvSpPr>
        <p:spPr>
          <a:xfrm>
            <a:off x="8252817" y="30607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</a:t>
            </a:r>
            <a:endParaRPr lang="pt-BR" sz="2000" dirty="0"/>
          </a:p>
        </p:txBody>
      </p:sp>
      <p:sp>
        <p:nvSpPr>
          <p:cNvPr id="13" name="Text 11"/>
          <p:cNvSpPr/>
          <p:nvPr/>
        </p:nvSpPr>
        <p:spPr>
          <a:xfrm>
            <a:off x="8252817" y="3467100"/>
            <a:ext cx="2951912" cy="658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conjunto de </a:t>
            </a:r>
            <a:r>
              <a:rPr lang="pt-BR" sz="1600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trials</a:t>
            </a:r>
            <a:r>
              <a:rPr lang="pt-BR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o registro do melhor resultado.</a:t>
            </a:r>
            <a:endParaRPr lang="pt-BR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pt-BR" sz="120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635DF2DE-C18F-1FB6-E8B7-0ED8460C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093" y="173037"/>
            <a:ext cx="3855357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 · OPTUNA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</a:t>
            </a:r>
            <a:r>
              <a:rPr lang="pt-BR" sz="3400" b="1" i="0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busca</a:t>
            </a:r>
            <a:endParaRPr lang="pt-BR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25625"/>
            <a:ext cx="3380284" cy="3035300"/>
          </a:xfrm>
          <a:prstGeom prst="roundRect">
            <a:avLst>
              <a:gd name="adj" fmla="val 3243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pic>
        <p:nvPicPr>
          <p:cNvPr id="5" name="Image 0" descr="Pontos dispostos em grade regula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2082800"/>
            <a:ext cx="2876550" cy="1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34544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em grade</a:t>
            </a:r>
            <a:endParaRPr lang="pt-BR" sz="2000" dirty="0"/>
          </a:p>
        </p:txBody>
      </p:sp>
      <p:sp>
        <p:nvSpPr>
          <p:cNvPr id="7" name="Text 4"/>
          <p:cNvSpPr/>
          <p:nvPr/>
        </p:nvSpPr>
        <p:spPr>
          <a:xfrm>
            <a:off x="1073150" y="3860800"/>
            <a:ext cx="295191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 todas as combinações. O custo cresce a cada </a:t>
            </a:r>
            <a:r>
              <a:rPr lang="pt-BR" sz="1400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hiperparâmetro</a:t>
            </a: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BR" sz="1400" dirty="0"/>
          </a:p>
        </p:txBody>
      </p:sp>
      <p:sp>
        <p:nvSpPr>
          <p:cNvPr id="8" name="Shape 5"/>
          <p:cNvSpPr/>
          <p:nvPr/>
        </p:nvSpPr>
        <p:spPr>
          <a:xfrm>
            <a:off x="4405809" y="1825625"/>
            <a:ext cx="3380284" cy="3035300"/>
          </a:xfrm>
          <a:prstGeom prst="roundRect">
            <a:avLst>
              <a:gd name="adj" fmla="val 3243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pic>
        <p:nvPicPr>
          <p:cNvPr id="9" name="Image 1" descr="Pontos espalhados ao acaso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2984" y="2082800"/>
            <a:ext cx="2876550" cy="1270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2984" y="34544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aleatória</a:t>
            </a:r>
            <a:endParaRPr lang="pt-BR" sz="2000" dirty="0"/>
          </a:p>
        </p:txBody>
      </p:sp>
      <p:sp>
        <p:nvSpPr>
          <p:cNvPr id="11" name="Text 7"/>
          <p:cNvSpPr/>
          <p:nvPr/>
        </p:nvSpPr>
        <p:spPr>
          <a:xfrm>
            <a:off x="4662984" y="3860800"/>
            <a:ext cx="295191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Sorteia configurações. Não aprende com os resultados.</a:t>
            </a:r>
            <a:endParaRPr lang="pt-BR" sz="1400" dirty="0"/>
          </a:p>
        </p:txBody>
      </p:sp>
      <p:sp>
        <p:nvSpPr>
          <p:cNvPr id="12" name="Shape 8"/>
          <p:cNvSpPr/>
          <p:nvPr/>
        </p:nvSpPr>
        <p:spPr>
          <a:xfrm>
            <a:off x="7995642" y="1825625"/>
            <a:ext cx="3380284" cy="3035300"/>
          </a:xfrm>
          <a:prstGeom prst="roundRect">
            <a:avLst>
              <a:gd name="adj" fmla="val 3243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pic>
        <p:nvPicPr>
          <p:cNvPr id="13" name="Image 2" descr="Poucos pontos espalhados e muitos concentrados em uma região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2817" y="2082800"/>
            <a:ext cx="2876550" cy="1270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2817" y="34544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TPE</a:t>
            </a:r>
            <a:endParaRPr lang="pt-BR" sz="2000" dirty="0"/>
          </a:p>
        </p:txBody>
      </p:sp>
      <p:sp>
        <p:nvSpPr>
          <p:cNvPr id="15" name="Text 10"/>
          <p:cNvSpPr/>
          <p:nvPr/>
        </p:nvSpPr>
        <p:spPr>
          <a:xfrm>
            <a:off x="8252817" y="3860800"/>
            <a:ext cx="295191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do </a:t>
            </a:r>
            <a:r>
              <a:rPr lang="pt-BR" sz="1400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Usa os </a:t>
            </a:r>
            <a:r>
              <a:rPr lang="pt-BR" sz="1400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trials</a:t>
            </a: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anteriores para concentrar a busca nas regiões promissoras.</a:t>
            </a:r>
            <a:endParaRPr lang="pt-BR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51181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Ilustração: cada ponto é um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um espaço de dois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hiperparâmetros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BR" sz="1200" dirty="0"/>
          </a:p>
        </p:txBody>
      </p:sp>
      <p:sp>
        <p:nvSpPr>
          <p:cNvPr id="17" name="Text 12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18" name="Text 13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pt-BR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 · OPTUNA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espaço de busca e o </a:t>
            </a:r>
            <a:r>
              <a:rPr lang="pt-BR" sz="3400" b="1" i="0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  <a:endParaRPr lang="pt-BR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22450"/>
            <a:ext cx="10566400" cy="2273300"/>
          </a:xfrm>
          <a:prstGeom prst="roundRect">
            <a:avLst>
              <a:gd name="adj" fmla="val 4469"/>
            </a:avLst>
          </a:prstGeom>
          <a:solidFill>
            <a:srgbClr val="1B2430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objective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trial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):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lr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=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trial.suggest_float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 err="1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lr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1e-4, 1e-1, log=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True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camadas =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trial.suggest_int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 err="1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n_layers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1, 4)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neuronios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=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trial.suggest_int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 err="1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n_units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32, 256, step=32)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otimizador =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trial.suggest_categorical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 err="1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optimizer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[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"SGD"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"Adam"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 err="1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RMSprop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])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lote =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trial.suggest_categorical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 err="1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batch_size</a:t>
            </a:r>
            <a:r>
              <a:rPr lang="pt-BR" sz="1400" dirty="0">
                <a:solidFill>
                  <a:srgbClr val="F0A0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[32, 64, 128])</a:t>
            </a:r>
            <a:endParaRPr lang="pt-BR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</a:t>
            </a:r>
            <a:r>
              <a:rPr lang="pt-BR" sz="1400" dirty="0" err="1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treinar_e_avaliar</a:t>
            </a:r>
            <a:r>
              <a:rPr lang="pt-BR" sz="1400" dirty="0">
                <a:solidFill>
                  <a:srgbClr val="E8E4D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(...) </a:t>
            </a:r>
            <a:r>
              <a:rPr lang="pt-BR" sz="1400" dirty="0">
                <a:solidFill>
                  <a:srgbClr val="9AA5B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acurácia de validação</a:t>
            </a:r>
            <a:endParaRPr lang="pt-BR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4352925"/>
            <a:ext cx="5175250" cy="1314450"/>
          </a:xfrm>
          <a:prstGeom prst="roundRect">
            <a:avLst>
              <a:gd name="adj" fmla="val 74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1022350" y="4559300"/>
            <a:ext cx="49053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Define-</a:t>
            </a: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</a:t>
            </a:r>
            <a:r>
              <a:rPr lang="pt-BR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pt-BR" sz="2000" dirty="0"/>
          </a:p>
        </p:txBody>
      </p:sp>
      <p:sp>
        <p:nvSpPr>
          <p:cNvPr id="7" name="Text 5"/>
          <p:cNvSpPr/>
          <p:nvPr/>
        </p:nvSpPr>
        <p:spPr>
          <a:xfrm>
            <a:off x="1022350" y="4965700"/>
            <a:ext cx="490537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espaço de busca é declarado dentro da função objetivo, em código Python comum.</a:t>
            </a:r>
            <a:endParaRPr lang="pt-BR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4352925"/>
            <a:ext cx="5175250" cy="1314450"/>
          </a:xfrm>
          <a:prstGeom prst="roundRect">
            <a:avLst>
              <a:gd name="adj" fmla="val 74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/>
          <p:nvPr/>
        </p:nvSpPr>
        <p:spPr>
          <a:xfrm>
            <a:off x="6407150" y="4559300"/>
            <a:ext cx="49053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  <a:endParaRPr lang="pt-BR" sz="2000" dirty="0"/>
          </a:p>
        </p:txBody>
      </p:sp>
      <p:sp>
        <p:nvSpPr>
          <p:cNvPr id="10" name="Text 8"/>
          <p:cNvSpPr/>
          <p:nvPr/>
        </p:nvSpPr>
        <p:spPr>
          <a:xfrm>
            <a:off x="6407150" y="4965700"/>
            <a:ext cx="490537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 err="1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Trials</a:t>
            </a:r>
            <a:r>
              <a:rPr lang="pt-BR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vão mal nas primeiras épocas são interrompidos, o que economiza tempo.</a:t>
            </a:r>
            <a:endParaRPr lang="pt-BR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pt-BR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B84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no conjunto de teste</a:t>
            </a:r>
            <a:endParaRPr lang="pt-BR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62817"/>
              </p:ext>
            </p:extLst>
          </p:nvPr>
        </p:nvGraphicFramePr>
        <p:xfrm>
          <a:off x="825500" y="1835150"/>
          <a:ext cx="10553700" cy="2196205"/>
        </p:xfrm>
        <a:graphic>
          <a:graphicData uri="http://schemas.openxmlformats.org/drawingml/2006/table">
            <a:tbl>
              <a:tblPr/>
              <a:tblGrid>
                <a:gridCol w="316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pt-BR" sz="1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pt-BR" sz="1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Ferramentas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pt-BR" sz="1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Acurácia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pt-BR" sz="1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Acertos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 mais comum (piso)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Nenhuma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48,8%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1.951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pt-BR" sz="1600" dirty="0" err="1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LinearSVC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pt-BR" sz="1600" dirty="0" err="1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Scikit-learn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2.846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 sem otimização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pt-BR" sz="1600" dirty="0" err="1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Scikit-learn</a:t>
                      </a: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 </a:t>
                      </a:r>
                      <a:r>
                        <a:rPr lang="pt-BR" sz="1600" dirty="0" err="1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3.123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 otimizada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pt-BR" sz="1600" dirty="0" err="1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Scikit-learn</a:t>
                      </a: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pt-BR" sz="1600" dirty="0" err="1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</a:t>
                      </a: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 </a:t>
                      </a:r>
                      <a:r>
                        <a:rPr lang="pt-BR" sz="1600" dirty="0" err="1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Optuna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pt-BR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3.283</a:t>
                      </a:r>
                      <a:endParaRPr lang="pt-BR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285357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Acertos em 4.000 áreas de teste. A rede ganha 6,9 pontos sobre o modelo linear, e a otimização acrescenta mais 4,0 pontos, ou 160 áreas.</a:t>
            </a:r>
            <a:endParaRPr lang="pt-BR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pt-BR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b="1" kern="0" spc="150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pt-BR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855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pt-BR" sz="3400" b="1" i="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cada ferramenta</a:t>
            </a:r>
            <a:endParaRPr lang="pt-BR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825625"/>
            <a:ext cx="10566400" cy="0"/>
          </a:xfrm>
          <a:prstGeom prst="line">
            <a:avLst/>
          </a:prstGeom>
          <a:noFill/>
          <a:ln w="6350">
            <a:solidFill>
              <a:srgbClr val="3A465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812800" y="2006600"/>
            <a:ext cx="23545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pt-BR" sz="2000" dirty="0"/>
          </a:p>
        </p:txBody>
      </p:sp>
      <p:sp>
        <p:nvSpPr>
          <p:cNvPr id="6" name="Text 4"/>
          <p:cNvSpPr/>
          <p:nvPr/>
        </p:nvSpPr>
        <p:spPr>
          <a:xfrm>
            <a:off x="3403600" y="2019300"/>
            <a:ext cx="82148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de partida de qualquer projeto, mesmo quando o modelo final é uma rede.</a:t>
            </a:r>
            <a:endParaRPr lang="pt-BR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2492375"/>
            <a:ext cx="10566400" cy="0"/>
          </a:xfrm>
          <a:prstGeom prst="line">
            <a:avLst/>
          </a:prstGeom>
          <a:noFill/>
          <a:ln w="6350">
            <a:solidFill>
              <a:srgbClr val="3A465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812800" y="2673350"/>
            <a:ext cx="23545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pt-BR" sz="2000" dirty="0"/>
          </a:p>
        </p:txBody>
      </p:sp>
      <p:sp>
        <p:nvSpPr>
          <p:cNvPr id="9" name="Text 7"/>
          <p:cNvSpPr/>
          <p:nvPr/>
        </p:nvSpPr>
        <p:spPr>
          <a:xfrm>
            <a:off x="3403600" y="2686050"/>
            <a:ext cx="82148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é preciso controle sobre a arquitetura e o treino.</a:t>
            </a:r>
            <a:endParaRPr lang="pt-BR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159125"/>
            <a:ext cx="10566400" cy="0"/>
          </a:xfrm>
          <a:prstGeom prst="line">
            <a:avLst/>
          </a:prstGeom>
          <a:noFill/>
          <a:ln w="6350">
            <a:solidFill>
              <a:srgbClr val="3A465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/>
          <p:nvPr/>
        </p:nvSpPr>
        <p:spPr>
          <a:xfrm>
            <a:off x="812800" y="3340100"/>
            <a:ext cx="23545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pt-BR" sz="2000" b="1" dirty="0" err="1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2000" dirty="0"/>
          </a:p>
        </p:txBody>
      </p:sp>
      <p:sp>
        <p:nvSpPr>
          <p:cNvPr id="12" name="Text 10"/>
          <p:cNvSpPr/>
          <p:nvPr/>
        </p:nvSpPr>
        <p:spPr>
          <a:xfrm>
            <a:off x="3403600" y="3352800"/>
            <a:ext cx="82148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pt-BR" sz="16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que houver </a:t>
            </a:r>
            <a:r>
              <a:rPr lang="pt-BR" sz="1600" dirty="0" err="1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hiperparâmetros</a:t>
            </a:r>
            <a:r>
              <a:rPr lang="pt-BR" sz="16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escolher, em qualquer biblioteca.</a:t>
            </a:r>
            <a:endParaRPr lang="pt-BR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0767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pt-BR" sz="1400" dirty="0">
                <a:solidFill>
                  <a:srgbClr val="C3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Ressalva: em dados tabulares, modelos de árvores costumam empatar com redes neurais ou superá-las.</a:t>
            </a:r>
            <a:endParaRPr lang="pt-BR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420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BR" sz="1200" dirty="0" err="1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pt-BR" sz="1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pt-BR" sz="1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pt-BR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420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pt-BR" sz="12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pt-B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nário: Scikit-learn, PyTorch e Optuna">
  <a:themeElements>
    <a:clrScheme name="Seminário: Scikit-learn, PyTorch e Optuna">
      <a:dk1>
        <a:srgbClr val="1B2430"/>
      </a:dk1>
      <a:lt1>
        <a:srgbClr val="F7F5F0"/>
      </a:lt1>
      <a:dk2>
        <a:srgbClr val="525860"/>
      </a:dk2>
      <a:lt2>
        <a:srgbClr val="E1E0DD"/>
      </a:lt2>
      <a:accent1>
        <a:srgbClr val="B8481A"/>
      </a:accent1>
      <a:accent2>
        <a:srgbClr val="F08A4B"/>
      </a:accent2>
      <a:accent3>
        <a:srgbClr val="46505E"/>
      </a:accent3>
      <a:accent4>
        <a:srgbClr val="5C6672"/>
      </a:accent4>
      <a:accent5>
        <a:srgbClr val="C9C2B2"/>
      </a:accent5>
      <a:accent6>
        <a:srgbClr val="C3CBD4"/>
      </a:accent6>
      <a:hlink>
        <a:srgbClr val="0563C1"/>
      </a:hlink>
      <a:folHlink>
        <a:srgbClr val="954F72"/>
      </a:folHlink>
    </a:clrScheme>
    <a:fontScheme name="Seminário: Scikit-learn, PyTorch e Optun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2449</Words>
  <Application>Microsoft Macintosh PowerPoint</Application>
  <PresentationFormat>Widescreen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Seminário: Scikit-learn, PyTorch e Optuna</vt:lpstr>
      <vt:lpstr>Scikit-learn, PyTorch e Optuna</vt:lpstr>
      <vt:lpstr>O problema e as três ferramentas</vt:lpstr>
      <vt:lpstr>O que é a Scikit-learn</vt:lpstr>
      <vt:lpstr>O guia de escolha do estimador</vt:lpstr>
      <vt:lpstr>A interface do estimador</vt:lpstr>
      <vt:lpstr>Validação e busca de hiperparâmetros</vt:lpstr>
      <vt:lpstr>O que é o PyTorch</vt:lpstr>
      <vt:lpstr>As peças de um treino</vt:lpstr>
      <vt:lpstr>O loop de treino</vt:lpstr>
      <vt:lpstr>O que é o Optuna</vt:lpstr>
      <vt:lpstr>Como o Optuna busca</vt:lpstr>
      <vt:lpstr>O espaço de busca e o pruning</vt:lpstr>
      <vt:lpstr>Comparação no conjunto de teste</vt:lpstr>
      <vt:lpstr>Quando usar cada ferramenta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Seminário: Scikit-learn, PyTorch e Optuna</dc:title>
  <dc:subject/>
  <dc:creator/>
  <cp:lastModifiedBy>Flávio Mota</cp:lastModifiedBy>
  <cp:revision>13</cp:revision>
  <dcterms:created xsi:type="dcterms:W3CDTF">2026-10-06T21:21:02Z</dcterms:created>
  <dcterms:modified xsi:type="dcterms:W3CDTF">2026-10-07T14:21:59Z</dcterms:modified>
</cp:coreProperties>
</file>